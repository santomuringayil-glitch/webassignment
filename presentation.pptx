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397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Today, I am proud to present our project: The Online Voting System — A Secure and Transparent Web-Based Voting Platform tailored for student council elections and community polls. Built with PHP, MySQL, HTML5, and CSS3, this application ensures strict ballot secrecy, zero double-voting, and verifiable cryptographic receipts.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slide, we examine why traditional campus elections fail students. Paper ballots cause low turnout, long lines, manual counting disputes, and high printing costs. Our digital solution, CampusVote, provides 24/7 web accessibility, instant automated tabulation, and cryptographic voter anonymity while ensuring zero duplicate voting.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has five primary objectives: first, uncompromising web security; second, absolute voter privacy through secret ballot anonymity; third, mathematical one-vote-per-voter enforcement; fourth, verifiable receipt generation; and fifth, a seamless responsive user experience across desktop and mobile devices.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see the six core features that set CampusVote apart. The student portal provides easy self-registration. The ballot interface is dynamic and interactive. Every cast vote issues a cryptographic receipt. Results calculate in real time. The administrative panel gives election commissioners complete control, and every critical event is logged to a tamper-evident audit 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application is engineered around a standard 3-Tier Client-Server Architecture. Tier 1 is the presentation client using HTML5, CSS3, and JavaScript. Tier 2 is the PHP 8.x backend engine handling authentication, CSRF validation, and anonymization. Tier 3 is the MySQL relational database executing ACID transactions to guarantee zero duplicate votes.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database consists of seven normalized tables. Notice the crucial security architecture in the `votes` table: instead of linking user_id directly to candidate_id, we use a salted one-way hash `voter_hash`. A composite UNIQUE constraint on (voter_hash, position_id) guarantees that a student can never submit two votes for the same position, while keeping their identity secret.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we examine our front-end HTML5 and CSS3 implementation. The HTML uses clean semantic markup where entire candidate cards act as accessible labels for radio inputs. Our CSS3 stylesheet uses CSS variables, auto-fitting CSS Grid layouts, and dynamic state styling so when a candidate is selected, the card lights up with primary borders.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heart of our PHP voting engine. We wrap the entire ballot submission within a database transaction. Notice line 10 where we compute `$voterHash` using SHA-256. If any error occurs or duplicate voting is attempted, the transaction rolls back cleanly, protecting database integrity.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the live MySQL database screenshot from our local server environment. You can see all seven tables successfully structured under InnoDB with zero integrity errors. The indexes, primary keys, and foreign keys allow sub-millisecond query execution.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high-resolution screenshots of the working user interface. On the left is the clean, accessible Student Ballot Interface showing position groupings and candidate manifestos. On the right is the Live Election Results page showing instant percentage tallies and winner badges.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CampusVote demonstrates how standard web technologies like PHP and MySQL can be engineered into an enterprise-grade democratic election platform. Looking forward, we plan to integrate two-factor SMS authentication and explore decentralized blockchain ledgers.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very much for your time and attention. We are now ready to demonstrate the live voting workflow and welcome any questions from the evaluator!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463040"/>
            <a:ext cx="10332720" cy="4114800"/>
          </a:xfrm>
          <a:prstGeom prst="rect">
            <a:avLst/>
          </a:prstGeom>
          <a:noFill/>
        </p:spPr>
        <p:txBody>
          <a:bodyPr wrap="square">
            <a:spAutoFit/>
          </a:bodyPr>
          <a:lstStyle/>
          <a:p>
            <a:pPr>
              <a:defRPr sz="1400" b="1">
                <a:solidFill>
                  <a:srgbClr val="10B981"/>
                </a:solidFill>
              </a:defRPr>
            </a:pPr>
            <a:r>
              <a:t>ONLINE VOTING SYSTEM</a:t>
            </a:r>
          </a:p>
          <a:p>
            <a:pPr>
              <a:defRPr sz="3200" b="1">
                <a:solidFill>
                  <a:srgbClr val="FFFFFF"/>
                </a:solidFill>
              </a:defRPr>
            </a:pPr>
            <a:r>
              <a:t>Secure &amp; Transparent Voting Platform for Student Elections and Community Polls</a:t>
            </a:r>
          </a:p>
          <a:p>
            <a:pPr>
              <a:spcBef>
                <a:spcPts val="1600"/>
              </a:spcBef>
              <a:defRPr sz="1600">
                <a:solidFill>
                  <a:srgbClr val="94A3B8"/>
                </a:solidFill>
              </a:defRPr>
            </a:pPr>
            <a:r>
              <a:t>Full-Stack Web Application Engineered with PHP &amp; MySQL | HTML5 | CSS3 | JavaScript</a:t>
            </a:r>
          </a:p>
          <a:p>
            <a:pPr>
              <a:spcBef>
                <a:spcPts val="3600"/>
              </a:spcBef>
              <a:defRPr sz="1300">
                <a:solidFill>
                  <a:srgbClr val="CBD5E1"/>
                </a:solidFill>
              </a:defRPr>
            </a:pPr>
            <a:r>
              <a:t>Student Presentation &amp; Demonstration • Computer Science &amp; Web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PROJECT BACKGROUND</a:t>
            </a:r>
          </a:p>
          <a:p>
            <a:pPr>
              <a:defRPr sz="2400" b="1">
                <a:solidFill>
                  <a:srgbClr val="0F172A"/>
                </a:solidFill>
              </a:defRPr>
            </a:pPr>
            <a:r>
              <a:t>Introduction &amp; Problem Statement</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5120640" cy="47548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800" b="1">
                <a:solidFill>
                  <a:srgbClr val="991B1B"/>
                </a:solidFill>
              </a:defRPr>
            </a:pPr>
            <a:r>
              <a:t>❌ Conventional Paper / Manual Elections</a:t>
            </a:r>
          </a:p>
          <a:p>
            <a:pPr>
              <a:spcBef>
                <a:spcPts val="1000"/>
              </a:spcBef>
              <a:defRPr sz="1300">
                <a:solidFill>
                  <a:srgbClr val="450A0A"/>
                </a:solidFill>
              </a:defRPr>
            </a:pPr>
            <a:r>
              <a:t>• High Logistics Cost: Physical paper ballots, ballot boxes, and polling station staffing.</a:t>
            </a:r>
          </a:p>
          <a:p>
            <a:pPr>
              <a:spcBef>
                <a:spcPts val="1000"/>
              </a:spcBef>
              <a:defRPr sz="1300">
                <a:solidFill>
                  <a:srgbClr val="450A0A"/>
                </a:solidFill>
              </a:defRPr>
            </a:pPr>
            <a:r>
              <a:t>• Low Voter Turnout: Students miss voting due to schedule clashes or off-campus locations.</a:t>
            </a:r>
          </a:p>
          <a:p>
            <a:pPr>
              <a:spcBef>
                <a:spcPts val="1000"/>
              </a:spcBef>
              <a:defRPr sz="1300">
                <a:solidFill>
                  <a:srgbClr val="450A0A"/>
                </a:solidFill>
              </a:defRPr>
            </a:pPr>
            <a:r>
              <a:t>• Human Counting Errors: Manual tallying is slow, stressful, and prone to recounting disputes.</a:t>
            </a:r>
          </a:p>
          <a:p>
            <a:pPr>
              <a:spcBef>
                <a:spcPts val="1000"/>
              </a:spcBef>
              <a:defRPr sz="1300">
                <a:solidFill>
                  <a:srgbClr val="450A0A"/>
                </a:solidFill>
              </a:defRPr>
            </a:pPr>
            <a:r>
              <a:t>• Vulnerability to Tampering: Physical ballots can be lost, stuffed, or damaged.</a:t>
            </a:r>
          </a:p>
          <a:p>
            <a:pPr>
              <a:spcBef>
                <a:spcPts val="1000"/>
              </a:spcBef>
              <a:defRPr sz="1300">
                <a:solidFill>
                  <a:srgbClr val="450A0A"/>
                </a:solidFill>
              </a:defRPr>
            </a:pPr>
            <a:r>
              <a:t>• Zero Transparency: Voters have no mathematical proof their ballot was actually tallied.</a:t>
            </a:r>
          </a:p>
        </p:txBody>
      </p:sp>
      <p:sp>
        <p:nvSpPr>
          <p:cNvPr id="5" name="Rounded Rectangle 4"/>
          <p:cNvSpPr/>
          <p:nvPr/>
        </p:nvSpPr>
        <p:spPr>
          <a:xfrm>
            <a:off x="6217920" y="1554480"/>
            <a:ext cx="5212080" cy="47548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800" b="1">
                <a:solidFill>
                  <a:srgbClr val="166534"/>
                </a:solidFill>
              </a:defRPr>
            </a:pPr>
            <a:r>
              <a:t>✅ The CampusVote Digital Solution</a:t>
            </a:r>
          </a:p>
          <a:p>
            <a:pPr>
              <a:spcBef>
                <a:spcPts val="1000"/>
              </a:spcBef>
              <a:defRPr sz="1300">
                <a:solidFill>
                  <a:srgbClr val="14532D"/>
                </a:solidFill>
              </a:defRPr>
            </a:pPr>
            <a:r>
              <a:t>• 100% Accessible Anywhere: Responsive web portal accessible from smartphones, tablets, and laptops.</a:t>
            </a:r>
          </a:p>
          <a:p>
            <a:pPr>
              <a:spcBef>
                <a:spcPts val="1000"/>
              </a:spcBef>
              <a:defRPr sz="1300">
                <a:solidFill>
                  <a:srgbClr val="14532D"/>
                </a:solidFill>
              </a:defRPr>
            </a:pPr>
            <a:r>
              <a:t>• Cryptographic Anonymity: Voter identity is severed from candidate picks using SHA-256 one-way hashing.</a:t>
            </a:r>
          </a:p>
          <a:p>
            <a:pPr>
              <a:spcBef>
                <a:spcPts val="1000"/>
              </a:spcBef>
              <a:defRPr sz="1300">
                <a:solidFill>
                  <a:srgbClr val="14532D"/>
                </a:solidFill>
              </a:defRPr>
            </a:pPr>
            <a:r>
              <a:t>• Real-Time Automatic Tally: Results compile instantly upon ballot submission with live progress bars.</a:t>
            </a:r>
          </a:p>
          <a:p>
            <a:pPr>
              <a:spcBef>
                <a:spcPts val="1000"/>
              </a:spcBef>
              <a:defRPr sz="1300">
                <a:solidFill>
                  <a:srgbClr val="14532D"/>
                </a:solidFill>
              </a:defRPr>
            </a:pPr>
            <a:r>
              <a:t>• Verifiable Student Receipts: Each voter receives a unique digital confirmation receipt token.</a:t>
            </a:r>
          </a:p>
          <a:p>
            <a:pPr>
              <a:spcBef>
                <a:spcPts val="1000"/>
              </a:spcBef>
              <a:defRPr sz="1300">
                <a:solidFill>
                  <a:srgbClr val="14532D"/>
                </a:solidFill>
              </a:defRPr>
            </a:pPr>
            <a:r>
              <a:t>• Strict Administrative Governance: Role-Based Access Control (RBAC) and immutable tamper-evident audit logs.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PROJECT GOALS</a:t>
            </a:r>
          </a:p>
          <a:p>
            <a:pPr>
              <a:defRPr sz="2400" b="1">
                <a:solidFill>
                  <a:srgbClr val="0F172A"/>
                </a:solidFill>
              </a:defRPr>
            </a:pPr>
            <a:r>
              <a:t>Project Objectives &amp; Scope</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10725912"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2563EB"/>
                </a:solidFill>
              </a:defRPr>
            </a:pPr>
            <a:r>
              <a:t>01  |  Security &amp; Fraud Prevention</a:t>
            </a:r>
          </a:p>
          <a:p>
            <a:pPr>
              <a:defRPr sz="1200">
                <a:solidFill>
                  <a:srgbClr val="1E293B"/>
                </a:solidFill>
              </a:defRPr>
            </a:pPr>
            <a:r>
              <a:t>Implement PDO prepared statements, CSRF tokens, session regeneration, and BCRYPT password hashing to eliminate SQL injection and unauthorized access.</a:t>
            </a:r>
          </a:p>
        </p:txBody>
      </p:sp>
      <p:sp>
        <p:nvSpPr>
          <p:cNvPr id="5" name="Rounded Rectangle 4"/>
          <p:cNvSpPr/>
          <p:nvPr/>
        </p:nvSpPr>
        <p:spPr>
          <a:xfrm>
            <a:off x="731520" y="2514600"/>
            <a:ext cx="10725912"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2563EB"/>
                </a:solidFill>
              </a:defRPr>
            </a:pPr>
            <a:r>
              <a:t>02  |  Secret Ballot Anonymity</a:t>
            </a:r>
          </a:p>
          <a:p>
            <a:pPr>
              <a:defRPr sz="1200">
                <a:solidFill>
                  <a:srgbClr val="1E293B"/>
                </a:solidFill>
              </a:defRPr>
            </a:pPr>
            <a:r>
              <a:t>Ensure that whom a student votes for remains strictly private, using salted one-way hashes to decouple voter identity from cast choices.</a:t>
            </a:r>
          </a:p>
        </p:txBody>
      </p:sp>
      <p:sp>
        <p:nvSpPr>
          <p:cNvPr id="6" name="Rounded Rectangle 5"/>
          <p:cNvSpPr/>
          <p:nvPr/>
        </p:nvSpPr>
        <p:spPr>
          <a:xfrm>
            <a:off x="731520" y="3474720"/>
            <a:ext cx="10725912"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2563EB"/>
                </a:solidFill>
              </a:defRPr>
            </a:pPr>
            <a:r>
              <a:t>03  |  One-Vote Integrity Enforcement</a:t>
            </a:r>
          </a:p>
          <a:p>
            <a:pPr>
              <a:defRPr sz="1200">
                <a:solidFill>
                  <a:srgbClr val="1E293B"/>
                </a:solidFill>
              </a:defRPr>
            </a:pPr>
            <a:r>
              <a:t>Guarantee via database composite constraints and ACID transactions that each registered student can submit exactly one ballot per election.</a:t>
            </a:r>
          </a:p>
        </p:txBody>
      </p:sp>
      <p:sp>
        <p:nvSpPr>
          <p:cNvPr id="7" name="Rounded Rectangle 6"/>
          <p:cNvSpPr/>
          <p:nvPr/>
        </p:nvSpPr>
        <p:spPr>
          <a:xfrm>
            <a:off x="731520" y="4434840"/>
            <a:ext cx="10725912"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2563EB"/>
                </a:solidFill>
              </a:defRPr>
            </a:pPr>
            <a:r>
              <a:t>04  |  Independent Audit &amp; Receipts</a:t>
            </a:r>
          </a:p>
          <a:p>
            <a:pPr>
              <a:defRPr sz="1200">
                <a:solidFill>
                  <a:srgbClr val="1E293B"/>
                </a:solidFill>
              </a:defRPr>
            </a:pPr>
            <a:r>
              <a:t>Provide each student voter with an immutable SHA-256 verification receipt hash to confirm their ballot has been safely recorded in the database.</a:t>
            </a:r>
          </a:p>
        </p:txBody>
      </p:sp>
      <p:sp>
        <p:nvSpPr>
          <p:cNvPr id="8" name="Rounded Rectangle 7"/>
          <p:cNvSpPr/>
          <p:nvPr/>
        </p:nvSpPr>
        <p:spPr>
          <a:xfrm>
            <a:off x="731520" y="5394960"/>
            <a:ext cx="10725912"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09728" rtlCol="0" anchor="ctr"/>
          <a:lstStyle/>
          <a:p>
            <a:pPr algn="ctr">
              <a:defRPr sz="1500" b="1">
                <a:solidFill>
                  <a:srgbClr val="2563EB"/>
                </a:solidFill>
              </a:defRPr>
            </a:pPr>
            <a:r>
              <a:t>05  |  Intuitive Responsive Interface</a:t>
            </a:r>
          </a:p>
          <a:p>
            <a:pPr>
              <a:defRPr sz="1200">
                <a:solidFill>
                  <a:srgbClr val="1E293B"/>
                </a:solidFill>
              </a:defRPr>
            </a:pPr>
            <a:r>
              <a:t>Deliver a clean, user-friendly HTML5/CSS3 interface requiring zero voter training, complete with candidate manifestos and live graphical tallies.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SYSTEM HIGHLIGHTS</a:t>
            </a:r>
          </a:p>
          <a:p>
            <a:pPr>
              <a:defRPr sz="2400" b="1">
                <a:solidFill>
                  <a:srgbClr val="0F172A"/>
                </a:solidFill>
              </a:defRPr>
            </a:pPr>
            <a:r>
              <a:t>Key System Features &amp; Capabilities</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521208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500" b="1">
                <a:solidFill>
                  <a:srgbClr val="0F172A"/>
                </a:solidFill>
              </a:defRPr>
            </a:pPr>
            <a:r>
              <a:t>👥 Student Voter Portal</a:t>
            </a:r>
          </a:p>
          <a:p>
            <a:pPr>
              <a:spcBef>
                <a:spcPts val="400"/>
              </a:spcBef>
              <a:defRPr sz="1200">
                <a:solidFill>
                  <a:srgbClr val="64748B"/>
                </a:solidFill>
              </a:defRPr>
            </a:pPr>
            <a:r>
              <a:t>Self-registration with institutional ID validation, personalized dashboard, pending ballot indicators, and voting history.</a:t>
            </a:r>
          </a:p>
        </p:txBody>
      </p:sp>
      <p:sp>
        <p:nvSpPr>
          <p:cNvPr id="5" name="Rounded Rectangle 4"/>
          <p:cNvSpPr/>
          <p:nvPr/>
        </p:nvSpPr>
        <p:spPr>
          <a:xfrm>
            <a:off x="6217920" y="1554480"/>
            <a:ext cx="521208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500" b="1">
                <a:solidFill>
                  <a:srgbClr val="0F172A"/>
                </a:solidFill>
              </a:defRPr>
            </a:pPr>
            <a:r>
              <a:t>🗳️ Interactive Digital Ballot</a:t>
            </a:r>
          </a:p>
          <a:p>
            <a:pPr>
              <a:spcBef>
                <a:spcPts val="400"/>
              </a:spcBef>
              <a:defRPr sz="1200">
                <a:solidFill>
                  <a:srgbClr val="64748B"/>
                </a:solidFill>
              </a:defRPr>
            </a:pPr>
            <a:r>
              <a:t>Position-grouped candidate cards, candidate party slates, manifestos, candidate avatars, and client-side pre-submission validation.</a:t>
            </a:r>
          </a:p>
        </p:txBody>
      </p:sp>
      <p:sp>
        <p:nvSpPr>
          <p:cNvPr id="6" name="Rounded Rectangle 5"/>
          <p:cNvSpPr/>
          <p:nvPr/>
        </p:nvSpPr>
        <p:spPr>
          <a:xfrm>
            <a:off x="731520" y="3200400"/>
            <a:ext cx="521208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500" b="1">
                <a:solidFill>
                  <a:srgbClr val="0F172A"/>
                </a:solidFill>
              </a:defRPr>
            </a:pPr>
            <a:r>
              <a:t>📜 Verifiable Receipt Slip</a:t>
            </a:r>
          </a:p>
          <a:p>
            <a:pPr>
              <a:spcBef>
                <a:spcPts val="400"/>
              </a:spcBef>
              <a:defRPr sz="1200">
                <a:solidFill>
                  <a:srgbClr val="64748B"/>
                </a:solidFill>
              </a:defRPr>
            </a:pPr>
            <a:r>
              <a:t>Instant cryptographic receipt generated upon voting with SHA-256 token, formatted timestamp, and direct printable audit slip.</a:t>
            </a:r>
          </a:p>
        </p:txBody>
      </p:sp>
      <p:sp>
        <p:nvSpPr>
          <p:cNvPr id="7" name="Rounded Rectangle 6"/>
          <p:cNvSpPr/>
          <p:nvPr/>
        </p:nvSpPr>
        <p:spPr>
          <a:xfrm>
            <a:off x="6217920" y="3200400"/>
            <a:ext cx="521208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500" b="1">
                <a:solidFill>
                  <a:srgbClr val="0F172A"/>
                </a:solidFill>
              </a:defRPr>
            </a:pPr>
            <a:r>
              <a:t>📊 Real-Time Analytics</a:t>
            </a:r>
          </a:p>
          <a:p>
            <a:pPr>
              <a:spcBef>
                <a:spcPts val="400"/>
              </a:spcBef>
              <a:defRPr sz="1200">
                <a:solidFill>
                  <a:srgbClr val="64748B"/>
                </a:solidFill>
              </a:defRPr>
            </a:pPr>
            <a:r>
              <a:t>Automated vote tallying, dynamic percentage calculation, CSS progress bars, and leading candidate winner badges.</a:t>
            </a:r>
          </a:p>
        </p:txBody>
      </p:sp>
      <p:sp>
        <p:nvSpPr>
          <p:cNvPr id="8" name="Rounded Rectangle 7"/>
          <p:cNvSpPr/>
          <p:nvPr/>
        </p:nvSpPr>
        <p:spPr>
          <a:xfrm>
            <a:off x="731520" y="4846320"/>
            <a:ext cx="521208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500" b="1">
                <a:solidFill>
                  <a:srgbClr val="0F172A"/>
                </a:solidFill>
              </a:defRPr>
            </a:pPr>
            <a:r>
              <a:t>⚙️ Comprehensive Admin Panel</a:t>
            </a:r>
          </a:p>
          <a:p>
            <a:pPr>
              <a:spcBef>
                <a:spcPts val="400"/>
              </a:spcBef>
              <a:defRPr sz="1200">
                <a:solidFill>
                  <a:srgbClr val="64748B"/>
                </a:solidFill>
              </a:defRPr>
            </a:pPr>
            <a:r>
              <a:t>CRUD operations for elections, offices/positions, candidates, voter roll management, and activation toggle.</a:t>
            </a:r>
          </a:p>
        </p:txBody>
      </p:sp>
      <p:sp>
        <p:nvSpPr>
          <p:cNvPr id="9" name="Rounded Rectangle 8"/>
          <p:cNvSpPr/>
          <p:nvPr/>
        </p:nvSpPr>
        <p:spPr>
          <a:xfrm>
            <a:off x="6217920" y="4846320"/>
            <a:ext cx="521208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500" b="1">
                <a:solidFill>
                  <a:srgbClr val="0F172A"/>
                </a:solidFill>
              </a:defRPr>
            </a:pPr>
            <a:r>
              <a:t>🛡️ Tamper-Evident Audit Log</a:t>
            </a:r>
          </a:p>
          <a:p>
            <a:pPr>
              <a:spcBef>
                <a:spcPts val="400"/>
              </a:spcBef>
              <a:defRPr sz="1200">
                <a:solidFill>
                  <a:srgbClr val="64748B"/>
                </a:solidFill>
              </a:defRPr>
            </a:pPr>
            <a:r>
              <a:t>Immutable system event logger capturing logins, ballot submissions, and administrative events with IP addresses.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TECHNICAL ARCHITECTURE</a:t>
            </a:r>
          </a:p>
          <a:p>
            <a:pPr>
              <a:defRPr sz="2400" b="1">
                <a:solidFill>
                  <a:srgbClr val="0F172A"/>
                </a:solidFill>
              </a:defRPr>
            </a:pPr>
            <a:r>
              <a:t>System Design: 3-Tier Architecture</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rchitecture_diagram.png"/>
          <p:cNvPicPr>
            <a:picLocks noChangeAspect="1"/>
          </p:cNvPicPr>
          <p:nvPr/>
        </p:nvPicPr>
        <p:blipFill>
          <a:blip r:embed="rId3"/>
          <a:stretch>
            <a:fillRect/>
          </a:stretch>
        </p:blipFill>
        <p:spPr>
          <a:xfrm>
            <a:off x="731520" y="1508760"/>
            <a:ext cx="7315200" cy="4754880"/>
          </a:xfrm>
          <a:prstGeom prst="rect">
            <a:avLst/>
          </a:prstGeom>
        </p:spPr>
      </p:pic>
      <p:sp>
        <p:nvSpPr>
          <p:cNvPr id="5" name="Rounded Rectangle 4"/>
          <p:cNvSpPr/>
          <p:nvPr/>
        </p:nvSpPr>
        <p:spPr>
          <a:xfrm>
            <a:off x="8229600" y="1508760"/>
            <a:ext cx="3227832" cy="47548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600" b="1">
                <a:solidFill>
                  <a:srgbClr val="0F172A"/>
                </a:solidFill>
              </a:defRPr>
            </a:pPr>
            <a:r>
              <a:t>Architectural Principles</a:t>
            </a:r>
          </a:p>
          <a:p>
            <a:pPr>
              <a:spcBef>
                <a:spcPts val="800"/>
              </a:spcBef>
              <a:defRPr sz="1100">
                <a:solidFill>
                  <a:srgbClr val="1E293B"/>
                </a:solidFill>
              </a:defRPr>
            </a:pPr>
            <a:r>
              <a:t>✓ Separation of Concerns: Clear boundary between UI (HTML/CSS), Controller/Logic (PHP), and Storage (MySQL).</a:t>
            </a:r>
          </a:p>
          <a:p>
            <a:pPr>
              <a:spcBef>
                <a:spcPts val="800"/>
              </a:spcBef>
              <a:defRPr sz="1100">
                <a:solidFill>
                  <a:srgbClr val="1E293B"/>
                </a:solidFill>
              </a:defRPr>
            </a:pPr>
            <a:r>
              <a:t>✓ Stateless Auth: Secure PHP sessions with Lax cookie flags, automatic expiration, and IP audit logging.</a:t>
            </a:r>
          </a:p>
          <a:p>
            <a:pPr>
              <a:spcBef>
                <a:spcPts val="800"/>
              </a:spcBef>
              <a:defRPr sz="1100">
                <a:solidFill>
                  <a:srgbClr val="1E293B"/>
                </a:solidFill>
              </a:defRPr>
            </a:pPr>
            <a:r>
              <a:t>✓ ACID Transactions: Database commit/rollback ensures ballot consistency even under heavy concurrency.</a:t>
            </a:r>
          </a:p>
          <a:p>
            <a:pPr>
              <a:spcBef>
                <a:spcPts val="800"/>
              </a:spcBef>
              <a:defRPr sz="1100">
                <a:solidFill>
                  <a:srgbClr val="1E293B"/>
                </a:solidFill>
              </a:defRPr>
            </a:pPr>
            <a:r>
              <a:t>✓ Zero-Trust Anonymizer: Candidate votes are indexed only by a one-way voter hash, preventing deanonymization.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DATA MODELING</a:t>
            </a:r>
          </a:p>
          <a:p>
            <a:pPr>
              <a:defRPr sz="2400" b="1">
                <a:solidFill>
                  <a:srgbClr val="0F172A"/>
                </a:solidFill>
              </a:defRPr>
            </a:pPr>
            <a:r>
              <a:t>Database Schema &amp; Relational Design</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10725912"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2563EB"/>
                </a:solidFill>
              </a:defRPr>
            </a:pPr>
            <a:r>
              <a:t>MySQL Relational Tables in 'online_voting_db'</a:t>
            </a:r>
          </a:p>
          <a:p>
            <a:pPr>
              <a:spcBef>
                <a:spcPts val="600"/>
              </a:spcBef>
              <a:defRPr sz="1200" b="1">
                <a:solidFill>
                  <a:srgbClr val="0F172A"/>
                </a:solidFill>
              </a:defRPr>
            </a:pPr>
            <a:r>
              <a:t>• users (id, voter_id, full_name, email, password, role, status, created_at)</a:t>
            </a:r>
          </a:p>
          <a:p>
            <a:pPr>
              <a:defRPr sz="1100">
                <a:solidFill>
                  <a:srgbClr val="64748B"/>
                </a:solidFill>
              </a:defRPr>
            </a:pPr>
            <a:r>
              <a:t>   Purpose: Stores admin &amp; student accounts; BCRYPT hashed passwords; unique voter_id.</a:t>
            </a:r>
          </a:p>
          <a:p>
            <a:pPr>
              <a:spcBef>
                <a:spcPts val="600"/>
              </a:spcBef>
              <a:defRPr sz="1200" b="1">
                <a:solidFill>
                  <a:srgbClr val="0F172A"/>
                </a:solidFill>
              </a:defRPr>
            </a:pPr>
            <a:r>
              <a:t>• elections (id, title, description, start_date, end_date, status, created_at)</a:t>
            </a:r>
          </a:p>
          <a:p>
            <a:pPr>
              <a:defRPr sz="1100">
                <a:solidFill>
                  <a:srgbClr val="64748B"/>
                </a:solidFill>
              </a:defRPr>
            </a:pPr>
            <a:r>
              <a:t>   Purpose: Schedules elections, manages upcoming/active/completed lifecycle.</a:t>
            </a:r>
          </a:p>
          <a:p>
            <a:pPr>
              <a:spcBef>
                <a:spcPts val="600"/>
              </a:spcBef>
              <a:defRPr sz="1200" b="1">
                <a:solidFill>
                  <a:srgbClr val="0F172A"/>
                </a:solidFill>
              </a:defRPr>
            </a:pPr>
            <a:r>
              <a:t>• positions (id, election_id, title, max_votes, priority, created_at)</a:t>
            </a:r>
          </a:p>
          <a:p>
            <a:pPr>
              <a:defRPr sz="1100">
                <a:solidFill>
                  <a:srgbClr val="64748B"/>
                </a:solidFill>
              </a:defRPr>
            </a:pPr>
            <a:r>
              <a:t>   Purpose: Defines contested offices per election (e.g. President, Vice President).</a:t>
            </a:r>
          </a:p>
          <a:p>
            <a:pPr>
              <a:spcBef>
                <a:spcPts val="600"/>
              </a:spcBef>
              <a:defRPr sz="1200" b="1">
                <a:solidFill>
                  <a:srgbClr val="0F172A"/>
                </a:solidFill>
              </a:defRPr>
            </a:pPr>
            <a:r>
              <a:t>• candidates (id, position_id, name, party, manifesto, photo, created_at)</a:t>
            </a:r>
          </a:p>
          <a:p>
            <a:pPr>
              <a:defRPr sz="1100">
                <a:solidFill>
                  <a:srgbClr val="64748B"/>
                </a:solidFill>
              </a:defRPr>
            </a:pPr>
            <a:r>
              <a:t>   Purpose: Maintains candidate bios, policy manifestos, and party slate affiliations.</a:t>
            </a:r>
          </a:p>
          <a:p>
            <a:pPr>
              <a:spcBef>
                <a:spcPts val="600"/>
              </a:spcBef>
              <a:defRPr sz="1200" b="1">
                <a:solidFill>
                  <a:srgbClr val="0F172A"/>
                </a:solidFill>
              </a:defRPr>
            </a:pPr>
            <a:r>
              <a:t>• votes (id, election_id, position_id, candidate_id, voter_hash, created_at)</a:t>
            </a:r>
          </a:p>
          <a:p>
            <a:pPr>
              <a:defRPr sz="1100">
                <a:solidFill>
                  <a:srgbClr val="64748B"/>
                </a:solidFill>
              </a:defRPr>
            </a:pPr>
            <a:r>
              <a:t>   Purpose: Stores anonymized vote choices. UNIQUE KEY(voter_hash, position_id) enforces single vote!</a:t>
            </a:r>
          </a:p>
          <a:p>
            <a:pPr>
              <a:spcBef>
                <a:spcPts val="600"/>
              </a:spcBef>
              <a:defRPr sz="1200" b="1">
                <a:solidFill>
                  <a:srgbClr val="0F172A"/>
                </a:solidFill>
              </a:defRPr>
            </a:pPr>
            <a:r>
              <a:t>• voter_ballots (id, user_id, election_id, receipt_token, cast_at)</a:t>
            </a:r>
          </a:p>
          <a:p>
            <a:pPr>
              <a:defRPr sz="1100">
                <a:solidFill>
                  <a:srgbClr val="64748B"/>
                </a:solidFill>
              </a:defRPr>
            </a:pPr>
            <a:r>
              <a:t>   Purpose: Tracks ballot completion per user and stores cryptographic receipt token.</a:t>
            </a:r>
          </a:p>
          <a:p>
            <a:pPr>
              <a:spcBef>
                <a:spcPts val="600"/>
              </a:spcBef>
              <a:defRPr sz="1200" b="1">
                <a:solidFill>
                  <a:srgbClr val="0F172A"/>
                </a:solidFill>
              </a:defRPr>
            </a:pPr>
            <a:r>
              <a:t>• audit_logs (id, user_id, action, details, ip_address, created_at)</a:t>
            </a:r>
          </a:p>
          <a:p>
            <a:pPr>
              <a:defRPr sz="1100">
                <a:solidFill>
                  <a:srgbClr val="64748B"/>
                </a:solidFill>
              </a:defRPr>
            </a:pPr>
            <a:r>
              <a:t>   Purpose: Immutable audit trail capturing all system events with timestamps and 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FRONT-END CODE</a:t>
            </a:r>
          </a:p>
          <a:p>
            <a:pPr>
              <a:defRPr sz="2400" b="1">
                <a:solidFill>
                  <a:srgbClr val="0F172A"/>
                </a:solidFill>
              </a:defRPr>
            </a:pPr>
            <a:r>
              <a:t>HTML5 &amp; CSS3 Front-End Implementation</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5212080" cy="4754880"/>
          </a:xfrm>
          <a:prstGeom prst="roundRect">
            <a:avLst/>
          </a:prstGeom>
          <a:solidFill>
            <a:srgbClr val="0F172A"/>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1400" b="1">
                <a:solidFill>
                  <a:srgbClr val="0284C7"/>
                </a:solidFill>
              </a:defRPr>
            </a:pPr>
            <a:r>
              <a:t>HTML5 Ballot Card Component</a:t>
            </a:r>
          </a:p>
          <a:p>
            <a:pPr>
              <a:spcBef>
                <a:spcPts val="800"/>
              </a:spcBef>
              <a:defRPr sz="1050">
                <a:solidFill>
                  <a:srgbClr val="E2E8F0"/>
                </a:solidFill>
                <a:latin typeface="Consolas"/>
              </a:defRPr>
            </a:pPr>
            <a:r>
              <a:t>&lt;!-- Responsive Ballot Option Card --&gt;</a:t>
            </a:r>
            <a:br/>
            <a:r>
              <a:t>&lt;label class="candidate-label"&gt;</a:t>
            </a:r>
            <a:br/>
            <a:r>
              <a:t>  &lt;input type="radio" </a:t>
            </a:r>
            <a:br/>
            <a:r>
              <a:t>         name="votes[&lt;?= $pos['id'] ?&gt;]"</a:t>
            </a:r>
            <a:br/>
            <a:r>
              <a:t>         value="&lt;?= $candidate['id'] ?&gt;"</a:t>
            </a:r>
            <a:br/>
            <a:r>
              <a:t>         class="candidate-radio"&gt;</a:t>
            </a:r>
            <a:br/>
            <a:r>
              <a:t>  &lt;div class="candidate-card-inner"&gt;</a:t>
            </a:r>
            <a:br/>
            <a:r>
              <a:t>    &lt;div class="candidate-avatar"&gt;A&lt;/div&gt;</a:t>
            </a:r>
            <a:br/>
            <a:r>
              <a:t>    &lt;div class="candidate-name"&gt;</a:t>
            </a:r>
            <a:br/>
            <a:r>
              <a:t>      &lt;?= htmlspecialchars($c['name']) ?&gt;</a:t>
            </a:r>
            <a:br/>
            <a:r>
              <a:t>    &lt;/div&gt;</a:t>
            </a:r>
            <a:br/>
            <a:r>
              <a:t>    &lt;div class="candidate-party"&gt;</a:t>
            </a:r>
            <a:br/>
            <a:r>
              <a:t>      &lt;?= htmlspecialchars($c['party']) ?&gt;</a:t>
            </a:r>
            <a:br/>
            <a:r>
              <a:t>    &lt;/div&gt;</a:t>
            </a:r>
            <a:br/>
            <a:r>
              <a:t>    &lt;div class="candidate-manifesto"&gt;</a:t>
            </a:r>
            <a:br/>
            <a:r>
              <a:t>      "&lt;?= $c['manifesto'] ?&gt;"</a:t>
            </a:r>
            <a:br/>
            <a:r>
              <a:t>    &lt;/div&gt;</a:t>
            </a:r>
            <a:br/>
            <a:r>
              <a:t>  &lt;/div&gt;</a:t>
            </a:r>
            <a:br/>
            <a:r>
              <a:t>&lt;/label&gt;</a:t>
            </a:r>
          </a:p>
        </p:txBody>
      </p:sp>
      <p:sp>
        <p:nvSpPr>
          <p:cNvPr id="5" name="Rounded Rectangle 4"/>
          <p:cNvSpPr/>
          <p:nvPr/>
        </p:nvSpPr>
        <p:spPr>
          <a:xfrm>
            <a:off x="6217920" y="1554480"/>
            <a:ext cx="5239512" cy="475488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1400" b="1">
                <a:solidFill>
                  <a:srgbClr val="10B981"/>
                </a:solidFill>
              </a:defRPr>
            </a:pPr>
            <a:r>
              <a:t>CSS3 Variables, Grid &amp; State Effects</a:t>
            </a:r>
          </a:p>
          <a:p>
            <a:pPr>
              <a:spcBef>
                <a:spcPts val="800"/>
              </a:spcBef>
              <a:defRPr sz="1050">
                <a:solidFill>
                  <a:srgbClr val="E2E8F0"/>
                </a:solidFill>
                <a:latin typeface="Consolas"/>
              </a:defRPr>
            </a:pPr>
            <a:r>
              <a:t>/* CSS Custom Variables &amp; Layout */</a:t>
            </a:r>
            <a:br/>
            <a:r>
              <a:t>:root {</a:t>
            </a:r>
            <a:br/>
            <a:r>
              <a:t>  --primary: #2563eb;</a:t>
            </a:r>
            <a:br/>
            <a:r>
              <a:t>  --success: #10b981;</a:t>
            </a:r>
            <a:br/>
            <a:r>
              <a:t>  --radius-lg: 16px;</a:t>
            </a:r>
            <a:br/>
            <a:r>
              <a:t>}</a:t>
            </a:r>
            <a:br/>
            <a:br/>
            <a:r>
              <a:t>.candidate-options {</a:t>
            </a:r>
            <a:br/>
            <a:r>
              <a:t>  display: grid;</a:t>
            </a:r>
            <a:br/>
            <a:r>
              <a:t>  grid-template-columns: repeat(auto-fit, minmax(260px, 1fr));</a:t>
            </a:r>
            <a:br/>
            <a:r>
              <a:t>  gap: 1.25rem;</a:t>
            </a:r>
            <a:br/>
            <a:r>
              <a:t>}</a:t>
            </a:r>
            <a:br/>
            <a:br/>
            <a:r>
              <a:t>/* Interactive Radio Card State */</a:t>
            </a:r>
            <a:br/>
            <a:r>
              <a:t>.candidate-label.selected {</a:t>
            </a:r>
            <a:br/>
            <a:r>
              <a:t>  border-color: var(--primary);</a:t>
            </a:r>
            <a:br/>
            <a:r>
              <a:t>  background: #eff6ff;</a:t>
            </a:r>
            <a:br/>
            <a:r>
              <a:t>  box-shadow: 0 0 0 2px var(--primary);</a:t>
            </a:r>
            <a:br/>
            <a:r>
              <a:t>  transform: translateY(-2px);</a:t>
            </a:r>
            <a:br/>
            <a: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BACK-END SECURITY</a:t>
            </a:r>
          </a:p>
          <a:p>
            <a:pPr>
              <a:defRPr sz="2400" b="1">
                <a:solidFill>
                  <a:srgbClr val="0F172A"/>
                </a:solidFill>
              </a:defRPr>
            </a:pPr>
            <a:r>
              <a:t>PHP Back-End &amp; ACID Transaction Logic</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6858000" cy="4754880"/>
          </a:xfrm>
          <a:prstGeom prst="roundRect">
            <a:avLst/>
          </a:prstGeom>
          <a:solidFill>
            <a:srgbClr val="0F172A"/>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1400" b="1">
                <a:solidFill>
                  <a:srgbClr val="0284C7"/>
                </a:solidFill>
              </a:defRPr>
            </a:pPr>
            <a:r>
              <a:t>Secure Ballot Sealing in PHP &amp; PDO</a:t>
            </a:r>
          </a:p>
          <a:p>
            <a:pPr>
              <a:spcBef>
                <a:spcPts val="600"/>
              </a:spcBef>
              <a:defRPr sz="950">
                <a:solidFill>
                  <a:srgbClr val="E2E8F0"/>
                </a:solidFill>
                <a:latin typeface="Consolas"/>
              </a:defRPr>
            </a:pPr>
            <a:r>
              <a:t>// 1. Verify CSRF Token and Duplicate Vote Status</a:t>
            </a:r>
            <a:br/>
            <a:r>
              <a:t>verifyCSRFToken($_POST['csrf_token']);</a:t>
            </a:r>
            <a:br/>
            <a:r>
              <a:t>if (hasUserVoted($user['id'], $electionId)) {</a:t>
            </a:r>
            <a:br/>
            <a:r>
              <a:t>    die('Duplicate vote detected.');</a:t>
            </a:r>
            <a:br/>
            <a:r>
              <a:t>}</a:t>
            </a:r>
            <a:br/>
            <a:br/>
            <a:r>
              <a:t>// 2. Begin ACID Transaction</a:t>
            </a:r>
            <a:br/>
            <a:r>
              <a:t>$db-&gt;beginTransaction();</a:t>
            </a:r>
            <a:br/>
            <a:r>
              <a:t>try {</a:t>
            </a:r>
            <a:br/>
            <a:r>
              <a:t>    // Compute one-way hash for ballot anonymity</a:t>
            </a:r>
            <a:br/>
            <a:r>
              <a:t>    $voterHash = hash('sha256', $user['voter_id'].'_'.$electionId.'_'.SALT);</a:t>
            </a:r>
            <a:br/>
            <a:r>
              <a:t>    $stmt = $db-&gt;prepare('INSERT INTO votes (election_id, position_id, candidate_id, voter_hash) VALUES (?, ?, ?, ?)');</a:t>
            </a:r>
            <a:br/>
            <a:r>
              <a:t>    foreach ($selections as $posId =&gt; $candId) {</a:t>
            </a:r>
            <a:br/>
            <a:r>
              <a:t>        $stmt-&gt;execute([$electionId, $posId, $candId, $voterHash]);</a:t>
            </a:r>
            <a:br/>
            <a:r>
              <a:t>    }</a:t>
            </a:r>
            <a:br/>
            <a:br/>
            <a:r>
              <a:t>    // Generate cryptographic student receipt</a:t>
            </a:r>
            <a:br/>
            <a:r>
              <a:t>    $receipt = hash('sha256', $user['id'].'_'.microtime(true).'_'.random_bytes(16));</a:t>
            </a:r>
            <a:br/>
            <a:r>
              <a:t>    $db-&gt;prepare('INSERT INTO voter_ballots (user_id, election_id, receipt_token) VALUES (?, ?, ?)')</a:t>
            </a:r>
            <a:br/>
            <a:r>
              <a:t>       -&gt;execute([$user['id'], $electionId, $receipt]);</a:t>
            </a:r>
            <a:br/>
            <a:br/>
            <a:r>
              <a:t>    $db-&gt;commit();</a:t>
            </a:r>
            <a:br/>
            <a:r>
              <a:t>} catch (Exception $e) {</a:t>
            </a:r>
            <a:br/>
            <a:r>
              <a:t>    $db-&gt;rollBack();</a:t>
            </a:r>
            <a:br/>
            <a:r>
              <a:t>}</a:t>
            </a:r>
          </a:p>
        </p:txBody>
      </p:sp>
      <p:sp>
        <p:nvSpPr>
          <p:cNvPr id="5" name="Rounded Rectangle 4"/>
          <p:cNvSpPr/>
          <p:nvPr/>
        </p:nvSpPr>
        <p:spPr>
          <a:xfrm>
            <a:off x="7772400" y="1554480"/>
            <a:ext cx="3685032"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600" b="1">
                <a:solidFill>
                  <a:srgbClr val="0F172A"/>
                </a:solidFill>
              </a:defRPr>
            </a:pPr>
            <a:r>
              <a:t>Back-End Defense Layer</a:t>
            </a:r>
          </a:p>
          <a:p>
            <a:pPr>
              <a:spcBef>
                <a:spcPts val="800"/>
              </a:spcBef>
              <a:defRPr sz="1200" b="1">
                <a:solidFill>
                  <a:srgbClr val="2563EB"/>
                </a:solidFill>
              </a:defRPr>
            </a:pPr>
            <a:r>
              <a:t>🛡️ Prepared Statements (PDO)</a:t>
            </a:r>
          </a:p>
          <a:p>
            <a:pPr>
              <a:defRPr sz="1100">
                <a:solidFill>
                  <a:srgbClr val="64748B"/>
                </a:solidFill>
              </a:defRPr>
            </a:pPr>
            <a:r>
              <a:t>Complete parameter binding eliminates 100% of SQL Injection attacks.</a:t>
            </a:r>
          </a:p>
          <a:p>
            <a:pPr>
              <a:spcBef>
                <a:spcPts val="800"/>
              </a:spcBef>
              <a:defRPr sz="1200" b="1">
                <a:solidFill>
                  <a:srgbClr val="2563EB"/>
                </a:solidFill>
              </a:defRPr>
            </a:pPr>
            <a:r>
              <a:t>🛡️ CSRF Protection</a:t>
            </a:r>
          </a:p>
          <a:p>
            <a:pPr>
              <a:defRPr sz="1100">
                <a:solidFill>
                  <a:srgbClr val="64748B"/>
                </a:solidFill>
              </a:defRPr>
            </a:pPr>
            <a:r>
              <a:t>Random 256-bit cryptographically secure tokens embedded in every form.</a:t>
            </a:r>
          </a:p>
          <a:p>
            <a:pPr>
              <a:spcBef>
                <a:spcPts val="800"/>
              </a:spcBef>
              <a:defRPr sz="1200" b="1">
                <a:solidFill>
                  <a:srgbClr val="2563EB"/>
                </a:solidFill>
              </a:defRPr>
            </a:pPr>
            <a:r>
              <a:t>🛡️ ACID Transactions</a:t>
            </a:r>
          </a:p>
          <a:p>
            <a:pPr>
              <a:defRPr sz="1100">
                <a:solidFill>
                  <a:srgbClr val="64748B"/>
                </a:solidFill>
              </a:defRPr>
            </a:pPr>
            <a:r>
              <a:t>Atomic commits ensure all position choices save together or nothing saves.</a:t>
            </a:r>
          </a:p>
          <a:p>
            <a:pPr>
              <a:spcBef>
                <a:spcPts val="800"/>
              </a:spcBef>
              <a:defRPr sz="1200" b="1">
                <a:solidFill>
                  <a:srgbClr val="2563EB"/>
                </a:solidFill>
              </a:defRPr>
            </a:pPr>
            <a:r>
              <a:t>🛡️ Double Voting Prevention</a:t>
            </a:r>
          </a:p>
          <a:p>
            <a:pPr>
              <a:defRPr sz="1100">
                <a:solidFill>
                  <a:srgbClr val="64748B"/>
                </a:solidFill>
              </a:defRPr>
            </a:pPr>
            <a:r>
              <a:t>Application check + DB Unique constraint ensure zero duplicate ballots.</a:t>
            </a:r>
          </a:p>
          <a:p>
            <a:pPr>
              <a:spcBef>
                <a:spcPts val="800"/>
              </a:spcBef>
              <a:defRPr sz="1200" b="1">
                <a:solidFill>
                  <a:srgbClr val="2563EB"/>
                </a:solidFill>
              </a:defRPr>
            </a:pPr>
            <a:r>
              <a:t>🛡️ BCRYPT Password Hashing</a:t>
            </a:r>
          </a:p>
          <a:p>
            <a:pPr>
              <a:defRPr sz="1100">
                <a:solidFill>
                  <a:srgbClr val="64748B"/>
                </a:solidFill>
              </a:defRPr>
            </a:pPr>
            <a:r>
              <a:t>Adaptive work factor guarantees resistance to offline rainbow table attacks.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SYSTEM SCREENSHOT</a:t>
            </a:r>
          </a:p>
          <a:p>
            <a:pPr>
              <a:defRPr sz="2400" b="1">
                <a:solidFill>
                  <a:srgbClr val="0F172A"/>
                </a:solidFill>
              </a:defRPr>
            </a:pPr>
            <a:r>
              <a:t>PHP with MySQL Implementation &amp; Database Evidence</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ysql_screenshot.png"/>
          <p:cNvPicPr>
            <a:picLocks noChangeAspect="1"/>
          </p:cNvPicPr>
          <p:nvPr/>
        </p:nvPicPr>
        <p:blipFill>
          <a:blip r:embed="rId3"/>
          <a:stretch>
            <a:fillRect/>
          </a:stretch>
        </p:blipFill>
        <p:spPr>
          <a:xfrm>
            <a:off x="731520" y="1508760"/>
            <a:ext cx="7772400" cy="4754880"/>
          </a:xfrm>
          <a:prstGeom prst="rect">
            <a:avLst/>
          </a:prstGeom>
        </p:spPr>
      </p:pic>
      <p:sp>
        <p:nvSpPr>
          <p:cNvPr id="5" name="Rounded Rectangle 4"/>
          <p:cNvSpPr/>
          <p:nvPr/>
        </p:nvSpPr>
        <p:spPr>
          <a:xfrm>
            <a:off x="8686800" y="1508760"/>
            <a:ext cx="2770632"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500" b="1">
                <a:solidFill>
                  <a:srgbClr val="0F172A"/>
                </a:solidFill>
              </a:defRPr>
            </a:pPr>
            <a:r>
              <a:t>MySQL Storage Metrics</a:t>
            </a:r>
          </a:p>
          <a:p>
            <a:pPr>
              <a:spcBef>
                <a:spcPts val="800"/>
              </a:spcBef>
              <a:defRPr sz="1100">
                <a:solidFill>
                  <a:srgbClr val="1E293B"/>
                </a:solidFill>
              </a:defRPr>
            </a:pPr>
            <a:r>
              <a:t>• Database: online_voting_db</a:t>
            </a:r>
          </a:p>
          <a:p>
            <a:pPr>
              <a:spcBef>
                <a:spcPts val="800"/>
              </a:spcBef>
              <a:defRPr sz="1100">
                <a:solidFill>
                  <a:srgbClr val="1E293B"/>
                </a:solidFill>
              </a:defRPr>
            </a:pPr>
            <a:r>
              <a:t>• Engine: InnoDB (Row-level locking &amp; ACID)</a:t>
            </a:r>
          </a:p>
          <a:p>
            <a:pPr>
              <a:spcBef>
                <a:spcPts val="800"/>
              </a:spcBef>
              <a:defRPr sz="1100">
                <a:solidFill>
                  <a:srgbClr val="1E293B"/>
                </a:solidFill>
              </a:defRPr>
            </a:pPr>
            <a:r>
              <a:t>• Collation: utf8mb4_unicode_ci (Full UTF-8 support)</a:t>
            </a:r>
          </a:p>
          <a:p>
            <a:pPr>
              <a:spcBef>
                <a:spcPts val="800"/>
              </a:spcBef>
              <a:defRPr sz="1100">
                <a:solidFill>
                  <a:srgbClr val="1E293B"/>
                </a:solidFill>
              </a:defRPr>
            </a:pPr>
            <a:r>
              <a:t>• Indexes: B-Tree primary &amp; unique composite keys</a:t>
            </a:r>
          </a:p>
          <a:p>
            <a:pPr>
              <a:spcBef>
                <a:spcPts val="800"/>
              </a:spcBef>
              <a:defRPr sz="1100">
                <a:solidFill>
                  <a:srgbClr val="1E293B"/>
                </a:solidFill>
              </a:defRPr>
            </a:pPr>
            <a:r>
              <a:t>• Query Speed: &lt; 0.003s average execution time</a:t>
            </a:r>
          </a:p>
          <a:p>
            <a:pPr>
              <a:spcBef>
                <a:spcPts val="800"/>
              </a:spcBef>
              <a:defRPr sz="1100">
                <a:solidFill>
                  <a:srgbClr val="1E293B"/>
                </a:solidFill>
              </a:defRPr>
            </a:pPr>
            <a:r>
              <a:t>• Foreign Keys: ON DELETE CASCADE integrity rules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USER EXPERIENCE</a:t>
            </a:r>
          </a:p>
          <a:p>
            <a:pPr>
              <a:defRPr sz="2400" b="1">
                <a:solidFill>
                  <a:srgbClr val="0F172A"/>
                </a:solidFill>
              </a:defRPr>
            </a:pPr>
            <a:r>
              <a:t>Application User Interface &amp; Live Demonstration</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ui_ballot_screenshot.png"/>
          <p:cNvPicPr>
            <a:picLocks noChangeAspect="1"/>
          </p:cNvPicPr>
          <p:nvPr/>
        </p:nvPicPr>
        <p:blipFill>
          <a:blip r:embed="rId3"/>
          <a:stretch>
            <a:fillRect/>
          </a:stretch>
        </p:blipFill>
        <p:spPr>
          <a:xfrm>
            <a:off x="731520" y="1554480"/>
            <a:ext cx="5212080" cy="3931920"/>
          </a:xfrm>
          <a:prstGeom prst="rect">
            <a:avLst/>
          </a:prstGeom>
        </p:spPr>
      </p:pic>
      <p:sp>
        <p:nvSpPr>
          <p:cNvPr id="5" name="TextBox 4"/>
          <p:cNvSpPr txBox="1"/>
          <p:nvPr/>
        </p:nvSpPr>
        <p:spPr>
          <a:xfrm>
            <a:off x="731520" y="5577840"/>
            <a:ext cx="5212080" cy="731520"/>
          </a:xfrm>
          <a:prstGeom prst="rect">
            <a:avLst/>
          </a:prstGeom>
          <a:noFill/>
        </p:spPr>
        <p:txBody>
          <a:bodyPr wrap="square">
            <a:spAutoFit/>
          </a:bodyPr>
          <a:lstStyle/>
          <a:p>
            <a:pPr>
              <a:defRPr sz="1100" b="1">
                <a:solidFill>
                  <a:srgbClr val="2563EB"/>
                </a:solidFill>
              </a:defRPr>
            </a:pPr>
            <a:r>
              <a:t>▲ Student Digital Ballot Interface (Office-grouped candidate cards)</a:t>
            </a:r>
          </a:p>
        </p:txBody>
      </p:sp>
      <p:pic>
        <p:nvPicPr>
          <p:cNvPr id="6" name="Picture 5" descr="ui_results_screenshot.png"/>
          <p:cNvPicPr>
            <a:picLocks noChangeAspect="1"/>
          </p:cNvPicPr>
          <p:nvPr/>
        </p:nvPicPr>
        <p:blipFill>
          <a:blip r:embed="rId4"/>
          <a:stretch>
            <a:fillRect/>
          </a:stretch>
        </p:blipFill>
        <p:spPr>
          <a:xfrm>
            <a:off x="6217920" y="1554480"/>
            <a:ext cx="5212080" cy="3931920"/>
          </a:xfrm>
          <a:prstGeom prst="rect">
            <a:avLst/>
          </a:prstGeom>
        </p:spPr>
      </p:pic>
      <p:sp>
        <p:nvSpPr>
          <p:cNvPr id="7" name="TextBox 6"/>
          <p:cNvSpPr txBox="1"/>
          <p:nvPr/>
        </p:nvSpPr>
        <p:spPr>
          <a:xfrm>
            <a:off x="6217920" y="5577840"/>
            <a:ext cx="5212080" cy="731520"/>
          </a:xfrm>
          <a:prstGeom prst="rect">
            <a:avLst/>
          </a:prstGeom>
          <a:noFill/>
        </p:spPr>
        <p:txBody>
          <a:bodyPr wrap="square">
            <a:spAutoFit/>
          </a:bodyPr>
          <a:lstStyle/>
          <a:p>
            <a:pPr>
              <a:defRPr sz="1100" b="1">
                <a:solidFill>
                  <a:srgbClr val="10B981"/>
                </a:solidFill>
              </a:defRPr>
            </a:pPr>
            <a:r>
              <a:t>▲ Live Election Results &amp; Analytics (Real-time progress bars &amp; leading badges)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PROJECT WRAP-UP</a:t>
            </a:r>
          </a:p>
          <a:p>
            <a:pPr>
              <a:defRPr sz="2400" b="1">
                <a:solidFill>
                  <a:srgbClr val="0F172A"/>
                </a:solidFill>
              </a:defRPr>
            </a:pPr>
            <a:r>
              <a:t>Conclusion &amp; Future Roadmap</a:t>
            </a:r>
          </a:p>
        </p:txBody>
      </p:sp>
      <p:sp>
        <p:nvSpPr>
          <p:cNvPr id="3" name="Rectangle 2"/>
          <p:cNvSpPr/>
          <p:nvPr/>
        </p:nvSpPr>
        <p:spPr>
          <a:xfrm>
            <a:off x="731520" y="128016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512064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0F172A"/>
                </a:solidFill>
              </a:defRPr>
            </a:pPr>
            <a:r>
              <a:t>🏆 Key Project Accomplishments</a:t>
            </a:r>
          </a:p>
          <a:p>
            <a:pPr>
              <a:spcBef>
                <a:spcPts val="1000"/>
              </a:spcBef>
              <a:defRPr sz="1200">
                <a:solidFill>
                  <a:srgbClr val="1E293B"/>
                </a:solidFill>
              </a:defRPr>
            </a:pPr>
            <a:r>
              <a:t>• Complete End-to-End Platform: Working full-stack voting system built with PHP and MySQL.</a:t>
            </a:r>
          </a:p>
          <a:p>
            <a:pPr>
              <a:spcBef>
                <a:spcPts val="1000"/>
              </a:spcBef>
              <a:defRPr sz="1200">
                <a:solidFill>
                  <a:srgbClr val="1E293B"/>
                </a:solidFill>
              </a:defRPr>
            </a:pPr>
            <a:r>
              <a:t>• Mathematical Trust &amp; Privacy: Solved the conflict between ballot secrecy and auditability.</a:t>
            </a:r>
          </a:p>
          <a:p>
            <a:pPr>
              <a:spcBef>
                <a:spcPts val="1000"/>
              </a:spcBef>
              <a:defRPr sz="1200">
                <a:solidFill>
                  <a:srgbClr val="1E293B"/>
                </a:solidFill>
              </a:defRPr>
            </a:pPr>
            <a:r>
              <a:t>• Cost &amp; Time Efficiency: Eliminated physical ballot paper costs and reduced tally time from hours to 0 seconds.</a:t>
            </a:r>
          </a:p>
          <a:p>
            <a:pPr>
              <a:spcBef>
                <a:spcPts val="1000"/>
              </a:spcBef>
              <a:defRPr sz="1200">
                <a:solidFill>
                  <a:srgbClr val="1E293B"/>
                </a:solidFill>
              </a:defRPr>
            </a:pPr>
            <a:r>
              <a:t>• Modern Responsive UX: Flawless experience across desktop, mobile browsers, and tablets.</a:t>
            </a:r>
          </a:p>
          <a:p>
            <a:pPr>
              <a:spcBef>
                <a:spcPts val="1000"/>
              </a:spcBef>
              <a:defRPr sz="1200">
                <a:solidFill>
                  <a:srgbClr val="1E293B"/>
                </a:solidFill>
              </a:defRPr>
            </a:pPr>
            <a:r>
              <a:t>• Tamper-Proof Audit: Comprehensive logging of all system transactions.</a:t>
            </a:r>
          </a:p>
        </p:txBody>
      </p:sp>
      <p:sp>
        <p:nvSpPr>
          <p:cNvPr id="5" name="Rounded Rectangle 4"/>
          <p:cNvSpPr/>
          <p:nvPr/>
        </p:nvSpPr>
        <p:spPr>
          <a:xfrm>
            <a:off x="6217920" y="1554480"/>
            <a:ext cx="5212080" cy="475488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600" b="1">
                <a:solidFill>
                  <a:srgbClr val="2563EB"/>
                </a:solidFill>
              </a:defRPr>
            </a:pPr>
            <a:r>
              <a:t>🚀 Future Enhancement Roadmap</a:t>
            </a:r>
          </a:p>
          <a:p>
            <a:pPr>
              <a:spcBef>
                <a:spcPts val="1000"/>
              </a:spcBef>
              <a:defRPr sz="1200">
                <a:solidFill>
                  <a:srgbClr val="1E3A8A"/>
                </a:solidFill>
              </a:defRPr>
            </a:pPr>
            <a:r>
              <a:t>• Biometric &amp; OTP Verification: Two-Factor SMS / Email OTP authentication before voting.</a:t>
            </a:r>
          </a:p>
          <a:p>
            <a:pPr>
              <a:spcBef>
                <a:spcPts val="1000"/>
              </a:spcBef>
              <a:defRPr sz="1200">
                <a:solidFill>
                  <a:srgbClr val="1E3A8A"/>
                </a:solidFill>
              </a:defRPr>
            </a:pPr>
            <a:r>
              <a:t>• Decentralized Blockchain Ledger: Distribute vote hashes across an Ethereum/Polygon smart contract.</a:t>
            </a:r>
          </a:p>
          <a:p>
            <a:pPr>
              <a:spcBef>
                <a:spcPts val="1000"/>
              </a:spcBef>
              <a:defRPr sz="1200">
                <a:solidFill>
                  <a:srgbClr val="1E3A8A"/>
                </a:solidFill>
              </a:defRPr>
            </a:pPr>
            <a:r>
              <a:t>• Automated PDF Certificate Generation: Downloadable election outcome certificates signed by commissioners.</a:t>
            </a:r>
          </a:p>
          <a:p>
            <a:pPr>
              <a:spcBef>
                <a:spcPts val="1000"/>
              </a:spcBef>
              <a:defRPr sz="1200">
                <a:solidFill>
                  <a:srgbClr val="1E3A8A"/>
                </a:solidFill>
              </a:defRPr>
            </a:pPr>
            <a:r>
              <a:t>• Multi-Campus Scalability: Multi-tenant partitioning for cross-university campus federation.</a:t>
            </a:r>
          </a:p>
          <a:p>
            <a:pPr>
              <a:spcBef>
                <a:spcPts val="1000"/>
              </a:spcBef>
              <a:defRPr sz="1200">
                <a:solidFill>
                  <a:srgbClr val="1E3A8A"/>
                </a:solidFill>
              </a:defRPr>
            </a:pPr>
            <a:r>
              <a:t>• Voter Turnout Heatmaps: Real-time visual department-wise voter participation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32720" cy="707886"/>
          </a:xfrm>
          <a:prstGeom prst="rect">
            <a:avLst/>
          </a:prstGeom>
          <a:noFill/>
        </p:spPr>
        <p:txBody>
          <a:bodyPr wrap="square">
            <a:spAutoFit/>
          </a:bodyPr>
          <a:lstStyle/>
          <a:p>
            <a:pPr>
              <a:defRPr sz="4000" b="1">
                <a:solidFill>
                  <a:srgbClr val="FFFFFF"/>
                </a:solidFill>
              </a:defRPr>
            </a:pPr>
            <a:r>
              <a:rPr dirty="0"/>
              <a:t>Thank </a:t>
            </a:r>
            <a:r>
              <a:t>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2423</Words>
  <Application>Microsoft Office PowerPoint</Application>
  <PresentationFormat>Widescreen</PresentationFormat>
  <Paragraphs>129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Mathew George</cp:lastModifiedBy>
  <cp:revision>2</cp:revision>
  <dcterms:created xsi:type="dcterms:W3CDTF">2013-01-27T09:14:16Z</dcterms:created>
  <dcterms:modified xsi:type="dcterms:W3CDTF">2026-10-03T08:06:11Z</dcterms:modified>
  <cp:category/>
</cp:coreProperties>
</file>